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AGENTIC AI MASTERY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042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ADCFC"/>
                </a:solidFill>
                <a:latin typeface="Calibri"/>
              </a:rPr>
              <a:t>3-Month Roadmap: Fundamentals  to  Advanced Creator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999232"/>
            <a:ext cx="6858000" cy="54864"/>
          </a:xfrm>
          <a:prstGeom prst="rect">
            <a:avLst/>
          </a:prstGeom>
          <a:solidFill>
            <a:srgbClr val="FF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1272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Build Real Products   |   Learn by Doing   |   Ship Every Month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840480"/>
            <a:ext cx="5212080" cy="1371600"/>
          </a:xfrm>
          <a:prstGeom prst="rect">
            <a:avLst/>
          </a:prstGeom>
          <a:solidFill>
            <a:srgbClr val="263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840480"/>
            <a:ext cx="5212080" cy="38404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77056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YOUR SCHEDULE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Weekdays: 9-11 AM study block (2 hrs before work at 2 PM)
Weekends: 5 hrs/day split in two blocks around family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3840480"/>
            <a:ext cx="5806440" cy="1371600"/>
          </a:xfrm>
          <a:prstGeom prst="rect">
            <a:avLst/>
          </a:prstGeom>
          <a:solidFill>
            <a:srgbClr val="263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3840480"/>
            <a:ext cx="5806440" cy="384048"/>
          </a:xfrm>
          <a:prstGeom prst="rect">
            <a:avLst/>
          </a:prstGeom>
          <a:solidFill>
            <a:srgbClr val="FF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3877056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3-MONTH 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429768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3 real products shipped   |   MCP server built
Multi-agent system running   |   Creator portfolio 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Designed for Gaurav Verma  |  May -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3-MONTH JOURNEY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3657600" cy="548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14400"/>
            <a:ext cx="3657600" cy="658368"/>
          </a:xfrm>
          <a:prstGeom prst="rect">
            <a:avLst/>
          </a:prstGeom>
          <a:solidFill>
            <a:srgbClr val="1C6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" y="950976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98755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62763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C6EA4"/>
                </a:solidFill>
                <a:latin typeface="Calibri"/>
              </a:rPr>
              <a:t>Month 1  |  Weeks 1-4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" y="2011680"/>
            <a:ext cx="3337560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" y="2212848"/>
            <a:ext cx="73152" cy="256032"/>
          </a:xfrm>
          <a:prstGeom prst="rect">
            <a:avLst/>
          </a:prstGeom>
          <a:solidFill>
            <a:srgbClr val="1C6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214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AI &amp; LLM core concepts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" y="2980944"/>
            <a:ext cx="73152" cy="256032"/>
          </a:xfrm>
          <a:prstGeom prst="rect">
            <a:avLst/>
          </a:prstGeom>
          <a:solidFill>
            <a:srgbClr val="1C6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2889503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Prompt engineering mastery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3749039"/>
            <a:ext cx="73152" cy="256032"/>
          </a:xfrm>
          <a:prstGeom prst="rect">
            <a:avLst/>
          </a:prstGeom>
          <a:solidFill>
            <a:srgbClr val="1C6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Python + API basics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" y="4517136"/>
            <a:ext cx="73152" cy="256032"/>
          </a:xfrm>
          <a:prstGeom prst="rect">
            <a:avLst/>
          </a:prstGeom>
          <a:solidFill>
            <a:srgbClr val="1C6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442569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Your first AI tool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" y="5285231"/>
            <a:ext cx="73152" cy="256032"/>
          </a:xfrm>
          <a:prstGeom prst="rect">
            <a:avLst/>
          </a:prstGeom>
          <a:solidFill>
            <a:srgbClr val="1C6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51937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Mini-project: Smart Summarizer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914400"/>
            <a:ext cx="3657600" cy="548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59" y="914400"/>
            <a:ext cx="3657600" cy="658368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79975" y="950976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6631" y="98755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BUILDER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1" y="162763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8A6E"/>
                </a:solidFill>
                <a:latin typeface="Calibri"/>
              </a:rPr>
              <a:t>Month 2  |  Weeks 5-8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6551" y="2011680"/>
            <a:ext cx="3337560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6551" y="2212848"/>
            <a:ext cx="73152" cy="256032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81144" y="21214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Agentic AI architecture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16551" y="2980944"/>
            <a:ext cx="73152" cy="256032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81144" y="2889503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LangChain / Claude SDK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16551" y="3749039"/>
            <a:ext cx="73152" cy="256032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81144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Multi-step agent design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16551" y="4517136"/>
            <a:ext cx="73152" cy="256032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81144" y="442569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Tool use &amp; memory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16551" y="5285231"/>
            <a:ext cx="73152" cy="256032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81144" y="51937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Mini-project: Research Agent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79" y="914400"/>
            <a:ext cx="3657600" cy="548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83879" y="914400"/>
            <a:ext cx="3657600" cy="658368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11896" y="950976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88552" y="98755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CREATOR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8471" y="162763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2FC9"/>
                </a:solidFill>
                <a:latin typeface="Calibri"/>
              </a:rPr>
              <a:t>Month 3  |  Weeks 9-12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48471" y="2011680"/>
            <a:ext cx="3337560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348471" y="2212848"/>
            <a:ext cx="73152" cy="256032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13063" y="21214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Production-grade agents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48471" y="2980944"/>
            <a:ext cx="73152" cy="256032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13063" y="2889503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MCP servers &amp; plugins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48471" y="3749039"/>
            <a:ext cx="73152" cy="256032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13063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Multi-agent systems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48471" y="4517136"/>
            <a:ext cx="73152" cy="256032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13063" y="442569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Product packaging &amp; launch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48471" y="5285231"/>
            <a:ext cx="73152" cy="256032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13063" y="51937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Capstone: Saleable AI product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CADCFC"/>
                </a:solidFill>
                <a:latin typeface="Calibri"/>
              </a:rPr>
              <a:t>Each month ends with a SHIPPING milestone — a real product, not just exercises.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WEEKLY STUDY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6692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Mornings 9-11 AM before your 2 PM shift  |  Weekends with family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960120"/>
            <a:ext cx="1005840" cy="40233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1005840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960120"/>
            <a:ext cx="1280160" cy="40233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9032" y="1005840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960120"/>
            <a:ext cx="2240280" cy="40233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0632" y="1005840"/>
            <a:ext cx="2148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Time Slot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960120"/>
            <a:ext cx="3291840" cy="40233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02352" y="1005840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Focus / Activity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960120"/>
            <a:ext cx="3520440" cy="40233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1005840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Total Hrs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1408176"/>
            <a:ext cx="1177747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499616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8EFF"/>
                </a:solidFill>
                <a:latin typeface="Calibri"/>
              </a:rPr>
              <a:t>MON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1499616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Weekday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70632" y="1499616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9:00 - 11:00 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1463040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Study session: concepts &amp; reading (2 hrs before work)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149961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F8EFF"/>
                </a:solidFill>
                <a:latin typeface="Calibri"/>
              </a:rPr>
              <a:t>2 hrs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066543"/>
            <a:ext cx="11777472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" y="2157984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8EFF"/>
                </a:solidFill>
                <a:latin typeface="Calibri"/>
              </a:rPr>
              <a:t>TUE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2157984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Weekday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70632" y="2157984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9:00 - 11:00 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2352" y="2121408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Study session: concepts &amp; reading (2 hrs before work)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15798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F8EFF"/>
                </a:solidFill>
                <a:latin typeface="Calibri"/>
              </a:rPr>
              <a:t>2 hrs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2724912"/>
            <a:ext cx="1177747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" y="2816352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8EFF"/>
                </a:solidFill>
                <a:latin typeface="Calibri"/>
              </a:rPr>
              <a:t>WED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99032" y="2816352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Weekday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70632" y="281635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9:00 - 11:00 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2352" y="2779776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Coding &amp; project work: build on what you learned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81635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F8EFF"/>
                </a:solidFill>
                <a:latin typeface="Calibri"/>
              </a:rPr>
              <a:t>2 hrs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3383280"/>
            <a:ext cx="11777472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" y="3474720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8EFF"/>
                </a:solidFill>
                <a:latin typeface="Calibri"/>
              </a:rPr>
              <a:t>THU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99032" y="3474720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Weekday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70632" y="347472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9:00 - 11:00 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2352" y="3438144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Study + review: concepts + Q&amp;A session with Claude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47472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F8EFF"/>
                </a:solidFill>
                <a:latin typeface="Calibri"/>
              </a:rPr>
              <a:t>2 hrs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4041648"/>
            <a:ext cx="1177747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" y="4133087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8EFF"/>
                </a:solidFill>
                <a:latin typeface="Calibri"/>
              </a:rPr>
              <a:t>FRI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99032" y="4133087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Weekday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70632" y="4133087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9:00 - 11:00 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02352" y="4096511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Weekly recap, fix blockers, plan the coming week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4133087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F8EFF"/>
                </a:solidFill>
                <a:latin typeface="Calibri"/>
              </a:rPr>
              <a:t>2 hrs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4700016"/>
            <a:ext cx="11777472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" y="4791455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040"/>
                </a:solidFill>
                <a:latin typeface="Calibri"/>
              </a:rPr>
              <a:t>SAT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99032" y="4791455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Weekend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70632" y="4791455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Morning 2.5 hrs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02352" y="4754879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Deep learning + coding while kids have morning time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4791455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040"/>
                </a:solidFill>
                <a:latin typeface="Calibri"/>
              </a:rPr>
              <a:t>2.5 hrs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" y="5358384"/>
            <a:ext cx="1177747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1752" y="5449824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040"/>
                </a:solidFill>
                <a:latin typeface="Calibri"/>
              </a:rPr>
              <a:t>SUN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99032" y="5449824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Weekend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70632" y="5449824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Afternoon 2.5 hrs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02352" y="5413248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Project build / capstone work after family lunch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0" y="544982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040"/>
                </a:solidFill>
                <a:latin typeface="Calibri"/>
              </a:rPr>
              <a:t>2.5 hrs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8600" y="6035040"/>
            <a:ext cx="11777472" cy="42062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608990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40"/>
                </a:solidFill>
                <a:latin typeface="Calibri"/>
              </a:rPr>
              <a:t>WEEKLY TOTAL: 15 hrs   |   Monthly: ~60 hrs   |   3-Month Total: 180 hrs of focused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C6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6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11704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MONTH 1: FOUNDATIONS  (Weeks 1-4)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7607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Goal: Understand AI/LLM fundamentals, prompt engineering, and ship your first AI tool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96112"/>
            <a:ext cx="2816352" cy="5532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896112"/>
            <a:ext cx="2816352" cy="512064"/>
          </a:xfrm>
          <a:prstGeom prst="rect">
            <a:avLst/>
          </a:prstGeom>
          <a:solidFill>
            <a:srgbClr val="1C6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" y="923544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144475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C6EA4"/>
                </a:solidFill>
                <a:latin typeface="Calibri"/>
              </a:rPr>
              <a:t>AI &amp; LLM Foundations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65376"/>
            <a:ext cx="2633472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920240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Calibri"/>
              </a:rPr>
              <a:t>WEEKDAYS (9-11 AM):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" y="2176272"/>
            <a:ext cx="26060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How LLMs work, tokens, context windows, temperature. Explore Claude, GPT-4o &amp; Gemini. Set up Python environment and Anthropic API key.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" y="3236976"/>
            <a:ext cx="2633472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" y="3291840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Calibri"/>
              </a:rPr>
              <a:t>WEEKEND (5 hrs):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" y="3529584"/>
            <a:ext cx="26060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Build a prompt-based text classifier. Deploy to Streamlit. Read: 'What is Agentic AI?' - Anthropic blog.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" y="4425696"/>
            <a:ext cx="2606040" cy="53035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47141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035"/>
                </a:solidFill>
                <a:latin typeface="Calibri"/>
              </a:rPr>
              <a:t>DONE: Working text classifier app live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" y="5029200"/>
            <a:ext cx="2606040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" y="5084064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Resources: Fast.ai Practical AI  |  Anthropic docs  |  3Blue1Brown: Neural Nets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82112" y="896112"/>
            <a:ext cx="2816352" cy="5532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82112" y="896112"/>
            <a:ext cx="2816352" cy="512064"/>
          </a:xfrm>
          <a:prstGeom prst="rect">
            <a:avLst/>
          </a:prstGeom>
          <a:solidFill>
            <a:srgbClr val="1C6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923544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144475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C6EA4"/>
                </a:solidFill>
                <a:latin typeface="Calibri"/>
              </a:rPr>
              <a:t>Prompt Engineering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1865376"/>
            <a:ext cx="2633472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1920240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Calibri"/>
              </a:rPr>
              <a:t>WEEKDAYS (9-11 AM):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2176272"/>
            <a:ext cx="26060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Chain-of-thought, few-shot, system prompts, role prompting. Explore the Claude API in depth. Build a reusable prompt template library.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3236976"/>
            <a:ext cx="2633472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91840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Calibri"/>
              </a:rPr>
              <a:t>WEEKEND (5 hrs):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529584"/>
            <a:ext cx="26060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Build a Smart Email Summarizer with 3 prompt styles. Test 10 different strategies and document what works.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4425696"/>
            <a:ext cx="2606040" cy="53035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6704" y="447141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035"/>
                </a:solidFill>
                <a:latin typeface="Calibri"/>
              </a:rPr>
              <a:t>DONE: Email Summarizer with prompt library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5029200"/>
            <a:ext cx="2606040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0" y="5084064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Resources: Anthropic Prompt Guide  |  learnprompting.org  |  DeepLearning.AI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3055" y="896112"/>
            <a:ext cx="2816352" cy="5532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63055" y="896112"/>
            <a:ext cx="2816352" cy="512064"/>
          </a:xfrm>
          <a:prstGeom prst="rect">
            <a:avLst/>
          </a:prstGeom>
          <a:solidFill>
            <a:srgbClr val="1C6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72783" y="923544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Week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2783" y="144475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C6EA4"/>
                </a:solidFill>
                <a:latin typeface="Calibri"/>
              </a:rPr>
              <a:t>Python + Tool Use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72783" y="1865376"/>
            <a:ext cx="2633472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72783" y="1920240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Calibri"/>
              </a:rPr>
              <a:t>WEEKDAYS (9-11 AM):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72783" y="2176272"/>
            <a:ext cx="26060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Python for AI: REST APIs, JSON, data structures. Intro to Claude Tool Use / function calling. Handle API errors gracefully.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72783" y="3236976"/>
            <a:ext cx="2633472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72783" y="3291840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Calibri"/>
              </a:rPr>
              <a:t>WEEKEND (5 hrs):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72783" y="3529584"/>
            <a:ext cx="26060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Build a News Aggregator: calls 2 APIs, summarizes headlines with Claude, and emails you a daily digest.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72783" y="4425696"/>
            <a:ext cx="2606040" cy="53035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7647" y="447141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035"/>
                </a:solidFill>
                <a:latin typeface="Calibri"/>
              </a:rPr>
              <a:t>DONE: News Aggregator with AI summaries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72783" y="5029200"/>
            <a:ext cx="2606040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72783" y="5084064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Resources: Python for Everybody  |  Anthropic Tool Use docs  |  RealPython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0" y="896112"/>
            <a:ext cx="2816352" cy="5532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44000" y="896112"/>
            <a:ext cx="2816352" cy="512064"/>
          </a:xfrm>
          <a:prstGeom prst="rect">
            <a:avLst/>
          </a:prstGeom>
          <a:solidFill>
            <a:srgbClr val="1C6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53728" y="923544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Week 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53728" y="144475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C6EA4"/>
                </a:solidFill>
                <a:latin typeface="Calibri"/>
              </a:rPr>
              <a:t>Ship: Smart Summarizer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53728" y="1865376"/>
            <a:ext cx="2633472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53728" y="1920240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Calibri"/>
              </a:rPr>
              <a:t>WEEKDAYS (9-11 AM):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53728" y="2176272"/>
            <a:ext cx="26060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Polish the summarizer: add Streamlit UI, error handling, progress bars. Learn Render/Railway for free deployment.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53728" y="3236976"/>
            <a:ext cx="2633472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53728" y="3291840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Calibri"/>
              </a:rPr>
              <a:t>WEEKEND (5 hrs):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53728" y="3529584"/>
            <a:ext cx="26060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Launch to public URL. Share with 3 people for feedback. Write a LinkedIn post about what you built.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53728" y="4425696"/>
            <a:ext cx="2606040" cy="53035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08592" y="447141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035"/>
                </a:solidFill>
                <a:latin typeface="Calibri"/>
              </a:rPr>
              <a:t>SHIPPED: Smart Summarizer v1 (public URL)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53728" y="5029200"/>
            <a:ext cx="2606040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53728" y="5084064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Resources: Streamlit docs  |  Render.com  |  GitHub Actions for CI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6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6574536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Month 1 Total: ~60 hrs  |  End Goal: 1 live product + solid AI fundamentals + coding confidence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11704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MONTH 2: BUILDER  (Weeks 5-8)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7607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Goal: Build real agentic pipelines — memory, tools, multi-step reasoning, and ship a Research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96112"/>
            <a:ext cx="2816352" cy="5532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896112"/>
            <a:ext cx="2816352" cy="512064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" y="923544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Week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144475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8A6E"/>
                </a:solidFill>
                <a:latin typeface="Calibri"/>
              </a:rPr>
              <a:t>Agentic AI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65376"/>
            <a:ext cx="2633472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920240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Calibri"/>
              </a:rPr>
              <a:t>WEEKDAYS (9-11 AM):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" y="2176272"/>
            <a:ext cx="26060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What makes an agent? The ReAct loop (Reason + Act). Planning vs. acting. LangChain intro. Trace a full agent step-by-step.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" y="3236976"/>
            <a:ext cx="2633472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" y="3291840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Calibri"/>
              </a:rPr>
              <a:t>WEEKEND (5 hrs):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" y="3529584"/>
            <a:ext cx="26060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Build a basic ReAct agent from scratch using raw API calls only - no frameworks. Understand every 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" y="4425696"/>
            <a:ext cx="2606040" cy="53035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47141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035"/>
                </a:solidFill>
                <a:latin typeface="Calibri"/>
              </a:rPr>
              <a:t>DONE: Custom ReAct agent (no framework)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" y="5029200"/>
            <a:ext cx="2606040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" y="5084064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Resources: LangChain docs  |  'ReAct' paper (Yao et al.)  |  AI Jason YouTube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82112" y="896112"/>
            <a:ext cx="2816352" cy="5532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82112" y="896112"/>
            <a:ext cx="2816352" cy="512064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923544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Week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144475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8A6E"/>
                </a:solidFill>
                <a:latin typeface="Calibri"/>
              </a:rPr>
              <a:t>Tools, Memory &amp; Context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1865376"/>
            <a:ext cx="2633472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1920240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Calibri"/>
              </a:rPr>
              <a:t>WEEKDAYS (9-11 AM):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2176272"/>
            <a:ext cx="26060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Giving agents tools: web search, calculator, file I/O. Short-term vs. long-term memory. Intro to vector stores (ChromaDB).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3236976"/>
            <a:ext cx="2633472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91840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Calibri"/>
              </a:rPr>
              <a:t>WEEKEND (5 hrs):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529584"/>
            <a:ext cx="26060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Upgrade your agent: add web search + memory. It should remember past conversations and use search results.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4425696"/>
            <a:ext cx="2606040" cy="53035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6704" y="447141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035"/>
                </a:solidFill>
                <a:latin typeface="Calibri"/>
              </a:rPr>
              <a:t>DONE: Agent with persistent memory + search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5029200"/>
            <a:ext cx="2606040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0" y="5084064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Resources: LangChain Memory  |  ChromaDB quickstart  |  Serper API (free tier)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3055" y="896112"/>
            <a:ext cx="2816352" cy="5532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63055" y="896112"/>
            <a:ext cx="2816352" cy="512064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72783" y="923544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Week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2783" y="144475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8A6E"/>
                </a:solidFill>
                <a:latin typeface="Calibri"/>
              </a:rPr>
              <a:t>Claude SDK + MCP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72783" y="1865376"/>
            <a:ext cx="2633472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72783" y="1920240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Calibri"/>
              </a:rPr>
              <a:t>WEEKDAYS (9-11 AM):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72783" y="2176272"/>
            <a:ext cx="26060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Anthropic Claude SDK deep dive. Claude Tool Use API. Intro to Model Context Protocol (MCP). Build your first MCP server.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72783" y="3236976"/>
            <a:ext cx="2633472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72783" y="3291840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Calibri"/>
              </a:rPr>
              <a:t>WEEKEND (5 hrs):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72783" y="3529584"/>
            <a:ext cx="26060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Wire a custom data-fetching tool into Claude via MCP. Test with real data (your calendar, news, or stock prices).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72783" y="4425696"/>
            <a:ext cx="2606040" cy="53035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7647" y="447141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035"/>
                </a:solidFill>
                <a:latin typeface="Calibri"/>
              </a:rPr>
              <a:t>DONE: MCP server with 1 custom tool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72783" y="5029200"/>
            <a:ext cx="2606040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72783" y="5084064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Resources: Anthropic SDK docs  |  MCP spec on GitHub  |  Cowork mcp-builder skill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0" y="896112"/>
            <a:ext cx="2816352" cy="5532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44000" y="896112"/>
            <a:ext cx="2816352" cy="512064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53728" y="923544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Week 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53728" y="144475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8A6E"/>
                </a:solidFill>
                <a:latin typeface="Calibri"/>
              </a:rPr>
              <a:t>Ship: Research Agent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53728" y="1865376"/>
            <a:ext cx="2633472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53728" y="1920240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Calibri"/>
              </a:rPr>
              <a:t>WEEKDAYS (9-11 AM):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53728" y="2176272"/>
            <a:ext cx="26060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Finalize agent pipeline. Add PDF reading, web scraping, and citation extraction. Retry logic and error handling.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53728" y="3236976"/>
            <a:ext cx="2633472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53728" y="3291840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Calibri"/>
              </a:rPr>
              <a:t>WEEKEND (5 hrs):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53728" y="3529584"/>
            <a:ext cx="26060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Launch Research Agent to public URL. Month 2 demo and retrospective. Plan Month 3 product idea.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53728" y="4425696"/>
            <a:ext cx="2606040" cy="53035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08592" y="447141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035"/>
                </a:solidFill>
                <a:latin typeface="Calibri"/>
              </a:rPr>
              <a:t>SHIPPED: Research Agent v1 (public URL)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53728" y="5029200"/>
            <a:ext cx="2606040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53728" y="5084064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Resources: PyMuPDF  |  BeautifulSoup  |  Streamlit  |  Railway deployment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6574536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Month 2 Total: ~60 hrs  |  End Goal: Research Agent live + MCP server built + deep agent knowledge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11704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MONTH 3: CREATOR  (Weeks 9-12)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7607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Goal: Ship a production-grade, multi-agent AI product you can sell or showcase to the world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96112"/>
            <a:ext cx="2816352" cy="5532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896112"/>
            <a:ext cx="2816352" cy="512064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" y="923544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Week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144475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8B2FC9"/>
                </a:solidFill>
                <a:latin typeface="Calibri"/>
              </a:rPr>
              <a:t>Multi-Agent Systems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65376"/>
            <a:ext cx="2633472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920240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Calibri"/>
              </a:rPr>
              <a:t>WEEKDAYS (9-11 AM):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" y="2176272"/>
            <a:ext cx="26060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Orchestrator + specialist agent patterns. LangGraph intro. Supervisor/worker architecture. Agent communication design.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" y="3236976"/>
            <a:ext cx="2633472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" y="3291840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Calibri"/>
              </a:rPr>
              <a:t>WEEKEND (5 hrs):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" y="3529584"/>
            <a:ext cx="26060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Build a 3-agent pipeline: Researcher collects data, Analyst processes it, Writer produces the output.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" y="4425696"/>
            <a:ext cx="2606040" cy="53035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47141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035"/>
                </a:solidFill>
                <a:latin typeface="Calibri"/>
              </a:rPr>
              <a:t>DONE: 3-agent content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" y="5029200"/>
            <a:ext cx="2606040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" y="5084064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Resources: LangGraph docs  |  AutoGen by Microsoft  |  Sam Witteveen YouTube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82112" y="896112"/>
            <a:ext cx="2816352" cy="5532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82112" y="896112"/>
            <a:ext cx="2816352" cy="512064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923544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Week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144475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8B2FC9"/>
                </a:solidFill>
                <a:latin typeface="Calibri"/>
              </a:rPr>
              <a:t>Production Engineering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1865376"/>
            <a:ext cx="2633472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1920240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Calibri"/>
              </a:rPr>
              <a:t>WEEKDAYS (9-11 AM):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2176272"/>
            <a:ext cx="26060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Reliability and retry logic. Cost management for API calls. Logging, observability, and tracing. Rate limiting and security.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3236976"/>
            <a:ext cx="2633472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91840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Calibri"/>
              </a:rPr>
              <a:t>WEEKEND (5 hrs):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529584"/>
            <a:ext cx="26060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Harden your agent system. Add LangSmith or Langfuse tracing. Write tests for your agent flows using pytest.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4425696"/>
            <a:ext cx="2606040" cy="53035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6704" y="447141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035"/>
                </a:solidFill>
                <a:latin typeface="Calibri"/>
              </a:rPr>
              <a:t>DONE: Production-ready agent with observability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5029200"/>
            <a:ext cx="2606040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0" y="5084064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Resources: LangSmith docs  |  Langfuse (open-source)  |  pytest for AI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3055" y="896112"/>
            <a:ext cx="2816352" cy="5532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63055" y="896112"/>
            <a:ext cx="2816352" cy="512064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72783" y="923544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Week 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2783" y="144475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8B2FC9"/>
                </a:solidFill>
                <a:latin typeface="Calibri"/>
              </a:rPr>
              <a:t>Product Design &amp; Launch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72783" y="1865376"/>
            <a:ext cx="2633472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72783" y="1920240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Calibri"/>
              </a:rPr>
              <a:t>WEEKDAYS (9-11 AM):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72783" y="2176272"/>
            <a:ext cx="26060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UX for AI products. API design for your agent. Pricing models for AI tools. No-code UI options (Streamlit, Next.js).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72783" y="3236976"/>
            <a:ext cx="2633472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72783" y="3291840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Calibri"/>
              </a:rPr>
              <a:t>WEEKEND (5 hrs):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72783" y="3529584"/>
            <a:ext cx="26060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Build landing page. Add user auth. Set up Stripe billing (free test mode). Record a 2-minute demo video.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72783" y="4425696"/>
            <a:ext cx="2606040" cy="53035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7647" y="447141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035"/>
                </a:solidFill>
                <a:latin typeface="Calibri"/>
              </a:rPr>
              <a:t>DONE: Packaged product with landing page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72783" y="5029200"/>
            <a:ext cx="2606040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72783" y="5084064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Resources: Stripe docs  |  Next.js + Vercel  |  shadcn/ui  |  Loom for demo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0" y="896112"/>
            <a:ext cx="2816352" cy="5532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44000" y="896112"/>
            <a:ext cx="2816352" cy="512064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53728" y="923544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Week 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53728" y="144475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8B2FC9"/>
                </a:solidFill>
                <a:latin typeface="Calibri"/>
              </a:rPr>
              <a:t>LAUNCH: Your AI Product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53728" y="1865376"/>
            <a:ext cx="2633472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53728" y="1920240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Calibri"/>
              </a:rPr>
              <a:t>WEEKDAYS (9-11 AM):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53728" y="2176272"/>
            <a:ext cx="26060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Final polish and bug fixes. SEO basics for AI tools. List on Product Hunt and AI tool directories.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53728" y="3236976"/>
            <a:ext cx="2633472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53728" y="3291840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Calibri"/>
              </a:rPr>
              <a:t>WEEKEND (5 hrs):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53728" y="3529584"/>
            <a:ext cx="26060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LAUNCH DAY: Share on LinkedIn and Product Hunt. 3-month retrospective. Celebrate and plan what's next.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53728" y="4425696"/>
            <a:ext cx="2606040" cy="53035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08592" y="447141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035"/>
                </a:solidFill>
                <a:latin typeface="Calibri"/>
              </a:rPr>
              <a:t>SHIPPED: AI Product v1 (live + monetizable)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53728" y="5029200"/>
            <a:ext cx="2606040" cy="27432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53728" y="5084064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Resources: Product Hunt  |  Indie Hackers  |  LinkedIn Creator Mode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6574536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Month 3 Total: ~60 hrs  |  End Goal: Live product + creator portfolio + monetization foundation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MASTER RESOURCE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6692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Everything you need — curated for your schedule. All FREE or low-cost.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914400"/>
            <a:ext cx="2816352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14400"/>
            <a:ext cx="2816352" cy="493776"/>
          </a:xfrm>
          <a:prstGeom prst="rect">
            <a:avLst/>
          </a:prstGeom>
          <a:solidFill>
            <a:srgbClr val="1C6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" y="960120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Core Learning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1655063"/>
            <a:ext cx="91440" cy="201168"/>
          </a:xfrm>
          <a:prstGeom prst="rect">
            <a:avLst/>
          </a:prstGeom>
          <a:solidFill>
            <a:srgbClr val="1C6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517904"/>
            <a:ext cx="2340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fast.ai - Practical Deep Learning (Free)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" y="2551175"/>
            <a:ext cx="91440" cy="201168"/>
          </a:xfrm>
          <a:prstGeom prst="rect">
            <a:avLst/>
          </a:prstGeom>
          <a:solidFill>
            <a:srgbClr val="1C6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414015"/>
            <a:ext cx="2340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DeepLearning.AI Short Courses (Free)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" y="3447288"/>
            <a:ext cx="91440" cy="201168"/>
          </a:xfrm>
          <a:prstGeom prst="rect">
            <a:avLst/>
          </a:prstGeom>
          <a:solidFill>
            <a:srgbClr val="1C6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310128"/>
            <a:ext cx="2340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Anthropic Docs: Claude API &amp; Prompt Eng.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" y="4343400"/>
            <a:ext cx="91440" cy="201168"/>
          </a:xfrm>
          <a:prstGeom prst="rect">
            <a:avLst/>
          </a:prstGeom>
          <a:solidFill>
            <a:srgbClr val="1C6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4206240"/>
            <a:ext cx="2340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LangChain Academy (Free)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" y="5239512"/>
            <a:ext cx="91440" cy="201168"/>
          </a:xfrm>
          <a:prstGeom prst="rect">
            <a:avLst/>
          </a:prstGeom>
          <a:solidFill>
            <a:srgbClr val="1C6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5102352"/>
            <a:ext cx="2340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CS50 Intro to AI - Harvard (Free)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91256" y="914400"/>
            <a:ext cx="2816352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91256" y="914400"/>
            <a:ext cx="2816352" cy="493776"/>
          </a:xfrm>
          <a:prstGeom prst="rect">
            <a:avLst/>
          </a:prstGeom>
          <a:solidFill>
            <a:srgbClr val="CC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9272" y="960120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YouTube Channels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55848" y="1655063"/>
            <a:ext cx="91440" cy="201168"/>
          </a:xfrm>
          <a:prstGeom prst="rect">
            <a:avLst/>
          </a:prstGeom>
          <a:solidFill>
            <a:srgbClr val="CC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38728" y="1517904"/>
            <a:ext cx="2340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Andrej Karpathy - Neural nets from scratch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55848" y="2551175"/>
            <a:ext cx="91440" cy="201168"/>
          </a:xfrm>
          <a:prstGeom prst="rect">
            <a:avLst/>
          </a:prstGeom>
          <a:solidFill>
            <a:srgbClr val="CC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8728" y="2414015"/>
            <a:ext cx="2340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Yannic Kilcher - Paper walkthroughs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5848" y="3447288"/>
            <a:ext cx="91440" cy="201168"/>
          </a:xfrm>
          <a:prstGeom prst="rect">
            <a:avLst/>
          </a:prstGeom>
          <a:solidFill>
            <a:srgbClr val="CC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38728" y="3310128"/>
            <a:ext cx="2340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Sam Witteveen - LangChain practicals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55848" y="4343400"/>
            <a:ext cx="91440" cy="201168"/>
          </a:xfrm>
          <a:prstGeom prst="rect">
            <a:avLst/>
          </a:prstGeom>
          <a:solidFill>
            <a:srgbClr val="CC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38728" y="4206240"/>
            <a:ext cx="2340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Matt Wolfe - AI tool news weekly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55848" y="5239512"/>
            <a:ext cx="91440" cy="201168"/>
          </a:xfrm>
          <a:prstGeom prst="rect">
            <a:avLst/>
          </a:prstGeom>
          <a:solidFill>
            <a:srgbClr val="CC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38728" y="5102352"/>
            <a:ext cx="2340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AI Jason - Agentic AI tutorials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53912" y="914400"/>
            <a:ext cx="2816352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53912" y="914400"/>
            <a:ext cx="2816352" cy="493776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960120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Tools &amp; Frameworks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18504" y="1655063"/>
            <a:ext cx="91440" cy="201168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01384" y="1517904"/>
            <a:ext cx="2340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Anthropic Claude + Python SDK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18504" y="2551175"/>
            <a:ext cx="91440" cy="201168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01384" y="2414015"/>
            <a:ext cx="2340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LangChain + LangGraph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18504" y="3447288"/>
            <a:ext cx="91440" cy="201168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1384" y="3310128"/>
            <a:ext cx="2340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Streamlit / Gradio (rapid UI)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18504" y="4343400"/>
            <a:ext cx="91440" cy="201168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01384" y="4206240"/>
            <a:ext cx="2340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ChromaDB / FAISS (vector store)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18504" y="5239512"/>
            <a:ext cx="91440" cy="201168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01384" y="5102352"/>
            <a:ext cx="2340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LangSmith (tracing &amp; observability)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16568" y="914400"/>
            <a:ext cx="2816352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16568" y="914400"/>
            <a:ext cx="2816352" cy="493776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44584" y="960120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Books &amp; Papers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81160" y="1655063"/>
            <a:ext cx="91440" cy="201168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64040" y="1517904"/>
            <a:ext cx="2340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'AI Engineering' - Chip Huyen (2024)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81160" y="2551175"/>
            <a:ext cx="91440" cy="201168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64040" y="2414015"/>
            <a:ext cx="2340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'Building LLM Apps' - Valentina Alto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81160" y="3447288"/>
            <a:ext cx="91440" cy="201168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64040" y="3310128"/>
            <a:ext cx="2340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Papers: ReAct, ToolFormer, AutoGPT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81160" y="4343400"/>
            <a:ext cx="91440" cy="201168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64040" y="4206240"/>
            <a:ext cx="2340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Anthropic Model Spec (free online)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81160" y="5239512"/>
            <a:ext cx="91440" cy="201168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64040" y="5102352"/>
            <a:ext cx="2340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Indie Hackers - AI Builders community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C040"/>
                </a:solidFill>
                <a:latin typeface="Calibri"/>
              </a:rPr>
              <a:t>Tip: Use Claude as your study partner. Ask it to explain, quiz you, and review your code every single day.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F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2011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3 PRODUCTS YOU WILL 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ADCFC"/>
                </a:solidFill>
                <a:latin typeface="Calibri"/>
              </a:rPr>
              <a:t>One real, working product per month — from learner to creator in 90 days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3749039" cy="5074920"/>
          </a:xfrm>
          <a:prstGeom prst="rect">
            <a:avLst/>
          </a:prstGeom>
          <a:solidFill>
            <a:srgbClr val="263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3749039" cy="594360"/>
          </a:xfrm>
          <a:prstGeom prst="rect">
            <a:avLst/>
          </a:prstGeom>
          <a:solidFill>
            <a:srgbClr val="1C6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353312"/>
            <a:ext cx="685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371600"/>
            <a:ext cx="2834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Smart Summarizer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1828800" cy="310896"/>
          </a:xfrm>
          <a:prstGeom prst="rect">
            <a:avLst/>
          </a:prstGeom>
          <a:solidFill>
            <a:srgbClr val="1C6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3911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Month 1 | Week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14016"/>
            <a:ext cx="3493008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 web app that takes any URL, PDF, or pasted text and generates structured summaries using Claude. Users choose summary style: executive brief, bullet points, or Q&amp;A format.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30752"/>
            <a:ext cx="3493008" cy="27432"/>
          </a:xfrm>
          <a:prstGeom prst="rect">
            <a:avLst/>
          </a:prstGeom>
          <a:solidFill>
            <a:srgbClr val="1C6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85615"/>
            <a:ext cx="34930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alibri"/>
              </a:rPr>
              <a:t>Stack: Python + Claude API + Streamlit + Render deployment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89120"/>
            <a:ext cx="3493008" cy="713232"/>
          </a:xfrm>
          <a:prstGeom prst="rect">
            <a:avLst/>
          </a:prstGeom>
          <a:solidFill>
            <a:srgbClr val="1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7" y="4498848"/>
            <a:ext cx="3291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040"/>
                </a:solidFill>
                <a:latin typeface="Calibri"/>
              </a:rPr>
              <a:t>Solves: Information overload for knowledge workers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1325880"/>
            <a:ext cx="3749039" cy="5074920"/>
          </a:xfrm>
          <a:prstGeom prst="rect">
            <a:avLst/>
          </a:prstGeom>
          <a:solidFill>
            <a:srgbClr val="263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59" y="1325880"/>
            <a:ext cx="3749039" cy="594360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9975" y="1353312"/>
            <a:ext cx="685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199" y="1371600"/>
            <a:ext cx="2834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Research 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011680"/>
            <a:ext cx="1828800" cy="310896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203911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Month 2 | Week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414016"/>
            <a:ext cx="3493008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An autonomous agent that takes a research question, searches the web, reads multiple sources, extracts key facts, and produces a cited research brief in one click.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3730752"/>
            <a:ext cx="3493008" cy="27432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3785615"/>
            <a:ext cx="34930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alibri"/>
              </a:rPr>
              <a:t>Stack: LangChain + Claude + Serper API + ChromaDB + Streamlit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4389120"/>
            <a:ext cx="3493008" cy="713232"/>
          </a:xfrm>
          <a:prstGeom prst="rect">
            <a:avLst/>
          </a:prstGeom>
          <a:solidFill>
            <a:srgbClr val="1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53127" y="4498848"/>
            <a:ext cx="3291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040"/>
                </a:solidFill>
                <a:latin typeface="Calibri"/>
              </a:rPr>
              <a:t>Solves: Hours of manual research for students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1325880"/>
            <a:ext cx="3749039" cy="5074920"/>
          </a:xfrm>
          <a:prstGeom prst="rect">
            <a:avLst/>
          </a:prstGeom>
          <a:solidFill>
            <a:srgbClr val="263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79" y="1325880"/>
            <a:ext cx="3749039" cy="594360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11896" y="1353312"/>
            <a:ext cx="685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19" y="1371600"/>
            <a:ext cx="2834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Your AI Product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2011680"/>
            <a:ext cx="1828800" cy="310896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59" y="203911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Month 3 | Week 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414016"/>
            <a:ext cx="3493008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 multi-agent, production-grade AI product in your chosen niche. Ideas: content pipeline, competitor analysis tool, knowledge base assistant, or AI coaching bot.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3730752"/>
            <a:ext cx="3493008" cy="27432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3785615"/>
            <a:ext cx="34930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alibri"/>
              </a:rPr>
              <a:t>Stack: LangGraph + Claude + MCP + Next.js or Streamlit + Stripe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40" y="4389120"/>
            <a:ext cx="3493008" cy="713232"/>
          </a:xfrm>
          <a:prstGeom prst="rect">
            <a:avLst/>
          </a:prstGeom>
          <a:solidFill>
            <a:srgbClr val="1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85048" y="4498848"/>
            <a:ext cx="3291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040"/>
                </a:solidFill>
                <a:latin typeface="Calibri"/>
              </a:rPr>
              <a:t>Solves: A real problem in your industry for sale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CADCFC"/>
                </a:solidFill>
                <a:latin typeface="Calibri"/>
              </a:rPr>
              <a:t>Each product is usable, shareable, and portfolio-worthy. Build them — don't skip them.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MILESTONES: HOW TO KNOW YOU'RE ON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6692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Concrete checkpoints — if you hit these, you are right on schedule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914400"/>
            <a:ext cx="117957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512064" cy="5120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060704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005840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6EA4"/>
                </a:solidFill>
                <a:latin typeface="Calibri"/>
              </a:rPr>
              <a:t>End of Week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371600"/>
            <a:ext cx="1600200" cy="274320"/>
          </a:xfrm>
          <a:prstGeom prst="rect">
            <a:avLst/>
          </a:prstGeom>
          <a:solidFill>
            <a:srgbClr val="1C6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39903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Prompt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09728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Can write 5 different prompt types for the same task and explain the tradeoff of each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828800"/>
            <a:ext cx="11795760" cy="8412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993392"/>
            <a:ext cx="512064" cy="5120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975104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1920240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6EA4"/>
                </a:solidFill>
                <a:latin typeface="Calibri"/>
              </a:rPr>
              <a:t>End of Week 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286000"/>
            <a:ext cx="1600200" cy="274320"/>
          </a:xfrm>
          <a:prstGeom prst="rect">
            <a:avLst/>
          </a:prstGeom>
          <a:solidFill>
            <a:srgbClr val="1C6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31343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Product 1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01168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Smart Summarizer is live, handles 3 input types, and you have shared it with at least 2 people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743200"/>
            <a:ext cx="117957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907792"/>
            <a:ext cx="512064" cy="5120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2889504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834640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8A6E"/>
                </a:solidFill>
                <a:latin typeface="Calibri"/>
              </a:rPr>
              <a:t>End of Week 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200400"/>
            <a:ext cx="1600200" cy="274320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22783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Agent Builder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292608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Built an agent that uses 2+ external tools and has persistent memory across sessions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3657600"/>
            <a:ext cx="11795760" cy="8412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3822191"/>
            <a:ext cx="512064" cy="5120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803904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749039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8A6E"/>
                </a:solidFill>
                <a:latin typeface="Calibri"/>
              </a:rPr>
              <a:t>End of Week 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4114800"/>
            <a:ext cx="1600200" cy="274320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14223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Product 2 Live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384048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Research Agent answers a real question better than a 30-minute Google search session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4572000"/>
            <a:ext cx="117957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4736592"/>
            <a:ext cx="512064" cy="5120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4718304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663440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2FC9"/>
                </a:solidFill>
                <a:latin typeface="Calibri"/>
              </a:rPr>
              <a:t>End of Week 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5029200"/>
            <a:ext cx="1600200" cy="274320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05663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Prod. Ready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475488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Your agent handles failures gracefully, logs all activity, and you can trace each step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5486400"/>
            <a:ext cx="11795760" cy="8412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5650992"/>
            <a:ext cx="512064" cy="5120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5632704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577840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2FC9"/>
                </a:solidFill>
                <a:latin typeface="Calibri"/>
              </a:rPr>
              <a:t>End of Week 12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5943600"/>
            <a:ext cx="1600200" cy="274320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" y="597103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Creator Status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51760" y="566928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You have a product with landing page, pricing page, and have made your first dollar from AI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FFC040"/>
                </a:solidFill>
                <a:latin typeface="Calibri"/>
              </a:rPr>
              <a:t>If you miss a milestone: slow down and catch up — do not skip ahead. Consistency beats speed every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F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20116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TIPS FOR 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0467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C040"/>
                </a:solidFill>
                <a:latin typeface="Calibri"/>
              </a:rPr>
              <a:t>Your 90-Day Commitment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298448"/>
            <a:ext cx="5650992" cy="1572768"/>
          </a:xfrm>
          <a:prstGeom prst="rect">
            <a:avLst/>
          </a:prstGeom>
          <a:solidFill>
            <a:srgbClr val="263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298448"/>
            <a:ext cx="128016" cy="1572768"/>
          </a:xfrm>
          <a:prstGeom prst="rect">
            <a:avLst/>
          </a:prstGeom>
          <a:solidFill>
            <a:srgbClr val="FF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408176"/>
            <a:ext cx="5230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C040"/>
                </a:solidFill>
                <a:latin typeface="Calibri"/>
              </a:rPr>
              <a:t>USE CLAUDE AS YOUR TUTOR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828800"/>
            <a:ext cx="5230368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Ask Claude to explain every concept you don't understand, quiz you, and review your code. It's like having a senior AI engineer available 24/7 for free.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298448"/>
            <a:ext cx="5650992" cy="1572768"/>
          </a:xfrm>
          <a:prstGeom prst="rect">
            <a:avLst/>
          </a:prstGeom>
          <a:solidFill>
            <a:srgbClr val="263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298448"/>
            <a:ext cx="128016" cy="1572768"/>
          </a:xfrm>
          <a:prstGeom prst="rect">
            <a:avLst/>
          </a:prstGeom>
          <a:solidFill>
            <a:srgbClr val="FF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1408176"/>
            <a:ext cx="5230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C040"/>
                </a:solidFill>
                <a:latin typeface="Calibri"/>
              </a:rPr>
              <a:t>BUILD MORE THAN YOU CONSUME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1828800"/>
            <a:ext cx="5230368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For every 1 hour of watching or reading, spend 2 hours building. The weekly projects are not optional - they are the real learning.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2990088"/>
            <a:ext cx="5650992" cy="1572768"/>
          </a:xfrm>
          <a:prstGeom prst="rect">
            <a:avLst/>
          </a:prstGeom>
          <a:solidFill>
            <a:srgbClr val="263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" y="2990088"/>
            <a:ext cx="128016" cy="1572768"/>
          </a:xfrm>
          <a:prstGeom prst="rect">
            <a:avLst/>
          </a:prstGeom>
          <a:solidFill>
            <a:srgbClr val="FF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3099816"/>
            <a:ext cx="5230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C040"/>
                </a:solidFill>
                <a:latin typeface="Calibri"/>
              </a:rPr>
              <a:t>KEEP A LEARNING JOURNAL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3520440"/>
            <a:ext cx="5230368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Spend 5 minutes each evening writing what you learned and what confused you. This dramatically accelerates retention and reveals gaps early.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5352" y="2990088"/>
            <a:ext cx="5650992" cy="1572768"/>
          </a:xfrm>
          <a:prstGeom prst="rect">
            <a:avLst/>
          </a:prstGeom>
          <a:solidFill>
            <a:srgbClr val="263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5352" y="2990088"/>
            <a:ext cx="128016" cy="1572768"/>
          </a:xfrm>
          <a:prstGeom prst="rect">
            <a:avLst/>
          </a:prstGeom>
          <a:solidFill>
            <a:srgbClr val="FF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1384" y="3099816"/>
            <a:ext cx="5230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C040"/>
                </a:solidFill>
                <a:latin typeface="Calibri"/>
              </a:rPr>
              <a:t>FIND AN ACCOUNTABILITY BUDDY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3520440"/>
            <a:ext cx="5230368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Post your progress on LinkedIn or in an AI Discord. Public commitment makes you 3x more likely to finish. Tag your weekly wins publicly.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4681728"/>
            <a:ext cx="5650992" cy="1572768"/>
          </a:xfrm>
          <a:prstGeom prst="rect">
            <a:avLst/>
          </a:prstGeom>
          <a:solidFill>
            <a:srgbClr val="263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7472" y="4681728"/>
            <a:ext cx="128016" cy="1572768"/>
          </a:xfrm>
          <a:prstGeom prst="rect">
            <a:avLst/>
          </a:prstGeom>
          <a:solidFill>
            <a:srgbClr val="FF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791456"/>
            <a:ext cx="5230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C040"/>
                </a:solidFill>
                <a:latin typeface="Calibri"/>
              </a:rPr>
              <a:t>ITERATE, DO NOT PERFECT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5212080"/>
            <a:ext cx="5230368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Ship imperfect products. Version 1 of your summarizer does not need to be good - it needs to exist. You will improve it over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4681728"/>
            <a:ext cx="5650992" cy="1572768"/>
          </a:xfrm>
          <a:prstGeom prst="rect">
            <a:avLst/>
          </a:prstGeom>
          <a:solidFill>
            <a:srgbClr val="263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45352" y="4681728"/>
            <a:ext cx="128016" cy="1572768"/>
          </a:xfrm>
          <a:prstGeom prst="rect">
            <a:avLst/>
          </a:prstGeom>
          <a:solidFill>
            <a:srgbClr val="FF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1384" y="4791456"/>
            <a:ext cx="5230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C040"/>
                </a:solidFill>
                <a:latin typeface="Calibri"/>
              </a:rPr>
              <a:t>GUARD YOUR MORNING HOURS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1384" y="5212080"/>
            <a:ext cx="5230368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Your 7-9 AM window is sacred. No email, no social media. That 2 hours of focused work is worth more than 4 hours of distracted study.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" y="6400800"/>
            <a:ext cx="11521440" cy="402336"/>
          </a:xfrm>
          <a:prstGeom prst="rect">
            <a:avLst/>
          </a:prstGeom>
          <a:solidFill>
            <a:srgbClr val="FF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In 90 days you will go from AI curious to AI creator. The only variable is consistency. Start tomorrow morning.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